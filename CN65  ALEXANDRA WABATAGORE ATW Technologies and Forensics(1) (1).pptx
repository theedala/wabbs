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80" r:id="rId5"/>
    <p:sldId id="268" r:id="rId6"/>
    <p:sldId id="294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30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pc\Desktop\BREAK%20EVEN%20POINT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t>Breakeven  analysis 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'[BREAK EVEN POINT.xlsx]Sheet1'!$A$4</c:f>
              <c:strCache>
                <c:ptCount val="1"/>
                <c:pt idx="0">
                  <c:v>Units of software sold</c:v>
                </c:pt>
              </c:strCache>
            </c:strRef>
          </c:tx>
          <c:spPr>
            <a:ln w="34925" cap="rnd" cmpd="sng" algn="ctr">
              <a:solidFill>
                <a:schemeClr val="accent1"/>
              </a:solidFill>
              <a:prstDash val="solid"/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dLbls>
            <c:delete val="1"/>
          </c:dLbls>
          <c:val>
            <c:numRef>
              <c:f>'[BREAK EVEN POINT.xlsx]Sheet1'!$A$5:$A$10</c:f>
              <c:numCache>
                <c:formatCode>General</c:formatCode>
                <c:ptCount val="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'[BREAK EVEN POINT.xlsx]Sheet1'!$B$4</c:f>
              <c:strCache>
                <c:ptCount val="1"/>
                <c:pt idx="0">
                  <c:v>FC</c:v>
                </c:pt>
              </c:strCache>
            </c:strRef>
          </c:tx>
          <c:spPr>
            <a:ln w="34925" cap="rnd" cmpd="sng" algn="ctr">
              <a:solidFill>
                <a:schemeClr val="accent2"/>
              </a:solidFill>
              <a:prstDash val="solid"/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dLbls>
            <c:delete val="1"/>
          </c:dLbls>
          <c:val>
            <c:numRef>
              <c:f>'[BREAK EVEN POINT.xlsx]Sheet1'!$B$5:$B$10</c:f>
              <c:numCache>
                <c:formatCode>General</c:formatCode>
                <c:ptCount val="6"/>
                <c:pt idx="0">
                  <c:v>1000</c:v>
                </c:pt>
                <c:pt idx="1">
                  <c:v>1000</c:v>
                </c:pt>
                <c:pt idx="2">
                  <c:v>1000</c:v>
                </c:pt>
                <c:pt idx="3">
                  <c:v>1000</c:v>
                </c:pt>
                <c:pt idx="4">
                  <c:v>1000</c:v>
                </c:pt>
                <c:pt idx="5">
                  <c:v>1000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'[BREAK EVEN POINT.xlsx]Sheet1'!$C$4</c:f>
              <c:strCache>
                <c:ptCount val="1"/>
                <c:pt idx="0">
                  <c:v>VC</c:v>
                </c:pt>
              </c:strCache>
            </c:strRef>
          </c:tx>
          <c:spPr>
            <a:ln w="34925" cap="rnd" cmpd="sng" algn="ctr">
              <a:solidFill>
                <a:schemeClr val="accent3"/>
              </a:solidFill>
              <a:prstDash val="solid"/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dLbls>
            <c:delete val="1"/>
          </c:dLbls>
          <c:val>
            <c:numRef>
              <c:f>'[BREAK EVEN POINT.xlsx]Sheet1'!$C$5:$C$10</c:f>
              <c:numCache>
                <c:formatCode>General</c:formatCode>
                <c:ptCount val="6"/>
                <c:pt idx="0">
                  <c:v>0</c:v>
                </c:pt>
                <c:pt idx="1">
                  <c:v>2000</c:v>
                </c:pt>
                <c:pt idx="2">
                  <c:v>4000</c:v>
                </c:pt>
                <c:pt idx="3">
                  <c:v>6000</c:v>
                </c:pt>
                <c:pt idx="4">
                  <c:v>8000</c:v>
                </c:pt>
                <c:pt idx="5">
                  <c:v>10000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'[BREAK EVEN POINT.xlsx]Sheet1'!$D$4</c:f>
              <c:strCache>
                <c:ptCount val="1"/>
                <c:pt idx="0">
                  <c:v>TC</c:v>
                </c:pt>
              </c:strCache>
            </c:strRef>
          </c:tx>
          <c:spPr>
            <a:ln w="34925" cap="rnd" cmpd="sng" algn="ctr">
              <a:solidFill>
                <a:schemeClr val="accent4"/>
              </a:solidFill>
              <a:prstDash val="solid"/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dLbls>
            <c:delete val="1"/>
          </c:dLbls>
          <c:val>
            <c:numRef>
              <c:f>'[BREAK EVEN POINT.xlsx]Sheet1'!$D$5:$D$10</c:f>
              <c:numCache>
                <c:formatCode>General</c:formatCode>
                <c:ptCount val="6"/>
                <c:pt idx="0">
                  <c:v>1000</c:v>
                </c:pt>
                <c:pt idx="1">
                  <c:v>3000</c:v>
                </c:pt>
                <c:pt idx="2">
                  <c:v>5000</c:v>
                </c:pt>
                <c:pt idx="3">
                  <c:v>7000</c:v>
                </c:pt>
                <c:pt idx="4">
                  <c:v>9000</c:v>
                </c:pt>
                <c:pt idx="5">
                  <c:v>11000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'[BREAK EVEN POINT.xlsx]Sheet1'!$E$4</c:f>
              <c:strCache>
                <c:ptCount val="1"/>
                <c:pt idx="0">
                  <c:v>Rev</c:v>
                </c:pt>
              </c:strCache>
            </c:strRef>
          </c:tx>
          <c:spPr>
            <a:ln w="34925" cap="rnd" cmpd="sng" algn="ctr">
              <a:solidFill>
                <a:schemeClr val="accent5"/>
              </a:solidFill>
              <a:prstDash val="solid"/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dLbls>
            <c:delete val="1"/>
          </c:dLbls>
          <c:val>
            <c:numRef>
              <c:f>'[BREAK EVEN POINT.xlsx]Sheet1'!$E$5:$E$10</c:f>
              <c:numCache>
                <c:formatCode>General</c:formatCode>
                <c:ptCount val="6"/>
                <c:pt idx="0">
                  <c:v>0</c:v>
                </c:pt>
                <c:pt idx="1">
                  <c:v>5000</c:v>
                </c:pt>
                <c:pt idx="2">
                  <c:v>10000</c:v>
                </c:pt>
                <c:pt idx="3">
                  <c:v>15000</c:v>
                </c:pt>
                <c:pt idx="4">
                  <c:v>20000</c:v>
                </c:pt>
                <c:pt idx="5">
                  <c:v>25000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923170013"/>
        <c:axId val="893861275"/>
      </c:lineChart>
      <c:catAx>
        <c:axId val="923170013"/>
        <c:scaling>
          <c:orientation val="minMax"/>
        </c:scaling>
        <c:delete val="0"/>
        <c:axPos val="b"/>
        <c:title>
          <c:layout/>
          <c:overlay val="0"/>
          <c:spPr>
            <a:noFill/>
            <a:ln>
              <a:noFill/>
            </a:ln>
            <a:effectLst/>
          </c:spPr>
          <c:tx>
            <c:rich>
              <a:bodyPr/>
              <a:lstStyle/>
              <a:p>
                <a:pPr>
                  <a:defRPr/>
                </a:pPr>
              </a:p>
            </c:rich>
          </c:tx>
        </c:title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95000"/>
                <a:alpha val="10000"/>
              </a:schemeClr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893861275"/>
        <c:crosses val="autoZero"/>
        <c:auto val="1"/>
        <c:lblAlgn val="ctr"/>
        <c:lblOffset val="100"/>
        <c:noMultiLvlLbl val="0"/>
      </c:catAx>
      <c:valAx>
        <c:axId val="8938612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prstDash val="solid"/>
              <a:round/>
            </a:ln>
            <a:effectLst/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 defTabSz="914400">
                  <a:defRPr lang="en-US" sz="900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t>Revenue in usd  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noFill/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923170013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lt1">
                <a:lumMod val="95000"/>
                <a:alpha val="54000"/>
              </a:schemeClr>
            </a:solidFill>
            <a:prstDash val="solid"/>
            <a:round/>
          </a:ln>
          <a:effectLst/>
        </c:spPr>
        <c:txPr>
          <a:bodyPr rot="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dTable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</a:gra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76672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5728" y="1600200"/>
            <a:ext cx="5376672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0573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Title 1025"/>
          <p:cNvSpPr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t>Click to edit Master title style</a:t>
            </a:r>
          </a:p>
        </p:txBody>
      </p:sp>
      <p:sp>
        <p:nvSpPr>
          <p:cNvPr id="1027" name="Text Placeholder 1026"/>
          <p:cNvSpPr/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28" name="Date Placeholder 1027"/>
          <p:cNvSpPr/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29" name="Footer Placeholder 1028"/>
          <p:cNvSpPr/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0" name="Slide Number Placeholder 1029"/>
          <p:cNvSpPr/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.jpe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3.jpeg"/><Relationship Id="rId2" Type="http://schemas.openxmlformats.org/officeDocument/2006/relationships/image" Target="../media/image4.jpeg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9.jpeg"/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.jpeg"/><Relationship Id="rId1" Type="http://schemas.openxmlformats.org/officeDocument/2006/relationships/chart" Target="../charts/char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tw Technologies and Forensics 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255" y="1272540"/>
            <a:ext cx="4762500" cy="424053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6410325" y="3308350"/>
            <a:ext cx="4826635" cy="2179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GB" altLang="en-US" sz="2800" b="1">
                <a:ln>
                  <a:solidFill>
                    <a:schemeClr val="tx1"/>
                  </a:solidFill>
                </a:ln>
                <a:latin typeface="Times New Roman" panose="02020603050405020304" charset="0"/>
                <a:cs typeface="Times New Roman" panose="02020603050405020304" charset="0"/>
              </a:rPr>
              <a:t>Alexandra Wabatagore </a:t>
            </a:r>
            <a:endParaRPr lang="en-GB" altLang="en-US" sz="2800" b="1">
              <a:ln>
                <a:solidFill>
                  <a:schemeClr val="tx1"/>
                </a:solidFill>
              </a:ln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GB" altLang="en-US" sz="2800" b="1">
                <a:ln>
                  <a:solidFill>
                    <a:schemeClr val="tx1"/>
                  </a:solidFill>
                </a:ln>
                <a:latin typeface="Times New Roman" panose="02020603050405020304" charset="0"/>
                <a:cs typeface="Times New Roman" panose="02020603050405020304" charset="0"/>
              </a:rPr>
              <a:t>CEO and Founder </a:t>
            </a:r>
            <a:endParaRPr lang="en-GB" altLang="en-US" sz="2800" b="1">
              <a:ln>
                <a:solidFill>
                  <a:schemeClr val="tx1"/>
                </a:solidFill>
              </a:ln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GB" altLang="en-US" sz="2800" b="1">
                <a:ln>
                  <a:solidFill>
                    <a:schemeClr val="tx1"/>
                  </a:solidFill>
                </a:ln>
                <a:latin typeface="Times New Roman" panose="02020603050405020304" charset="0"/>
                <a:cs typeface="Times New Roman" panose="02020603050405020304" charset="0"/>
              </a:rPr>
              <a:t>alexandrawabbs@gmail.com</a:t>
            </a:r>
            <a:r>
              <a:rPr lang="en-GB" altLang="en-US" sz="2800">
                <a:ln>
                  <a:solidFill>
                    <a:schemeClr val="tx1"/>
                  </a:solidFill>
                </a:ln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en-GB" altLang="en-US" sz="2800">
              <a:ln>
                <a:solidFill>
                  <a:schemeClr val="tx1"/>
                </a:solidFill>
              </a:ln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GB" altLang="en-US" sz="2800" b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+263771127760</a:t>
            </a:r>
            <a:endParaRPr lang="en-GB" altLang="en-US" sz="2800" b="1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414655" y="387350"/>
            <a:ext cx="11572240" cy="1517650"/>
          </a:xfrm>
        </p:spPr>
        <p:txBody>
          <a:bodyPr/>
          <a:p>
            <a:pPr algn="l"/>
            <a:r>
              <a:rPr lang="en-GB" altLang="en-US" sz="3200" b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PROBLEM :</a:t>
            </a:r>
            <a:r>
              <a:rPr lang="en-GB" altLang="en-US" sz="3200" b="1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RISE OF CYBER FRAUD  IN HARARE , ZIMBABWE   AS  96% OF FINANCIAL  TRANSACTIONS         ARE  CONDUCTED  ONLINE</a:t>
            </a:r>
            <a:endParaRPr lang="en-GB" altLang="en-US" sz="3200" b="1" dirty="0" smtClean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483870" y="2051050"/>
            <a:ext cx="11381740" cy="4363085"/>
          </a:xfrm>
        </p:spPr>
        <p:txBody>
          <a:bodyPr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altLang="en-US" sz="32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 Harare Institute of Technology lost about $24 million zimbabwean dollars  after its payment system was hacked by one of its software developers .</a:t>
            </a:r>
            <a:endParaRPr lang="en-GB" altLang="en-US" sz="3200" b="1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GB" altLang="en-US" sz="3200" b="1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altLang="en-US" sz="32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www.herald.co.zw </a:t>
            </a:r>
            <a:endParaRPr lang="en-GB" altLang="en-US" sz="3200" b="1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483870" y="1247140"/>
            <a:ext cx="3507740" cy="10191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GB" altLang="en-US" sz="32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GB" altLang="en-US" sz="32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en-GB" altLang="en-US" b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SOLUTION  .</a:t>
            </a:r>
            <a:endParaRPr lang="en-GB" altLang="en-US" b="1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pPr algn="l">
              <a:buFont typeface="Arial" panose="020B0604020202020204" pitchFamily="34" charset="0"/>
              <a:buChar char="•"/>
            </a:pPr>
            <a:r>
              <a:rPr lang="en-GB" alt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GB" altLang="en-US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Intrusion detection and prevention system  using artificial intelligence  to detect  suspicious activities and generate alerts when they are dectected and prevent  intrusions  .</a:t>
            </a:r>
            <a:endParaRPr lang="en-GB" altLang="en-US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-80010" y="65201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pic>
        <p:nvPicPr>
          <p:cNvPr id="5" name="Content Placeholder 4" descr="1689075347755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05855" y="1837690"/>
            <a:ext cx="5376545" cy="33693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en-US" b="1">
                <a:ln>
                  <a:solidFill>
                    <a:schemeClr val="tx1"/>
                  </a:solidFill>
                </a:ln>
                <a:latin typeface="Times New Roman" panose="02020603050405020304" charset="0"/>
                <a:cs typeface="Times New Roman" panose="02020603050405020304" charset="0"/>
              </a:rPr>
              <a:t>VALUE PR</a:t>
            </a:r>
            <a:r>
              <a:rPr lang="en-GB" altLang="en-US" b="1">
                <a:ln>
                  <a:solidFill>
                    <a:schemeClr val="tx1"/>
                  </a:solidFill>
                </a:ln>
                <a:latin typeface="Times New Roman" panose="02020603050405020304" charset="0"/>
                <a:cs typeface="Times New Roman" panose="02020603050405020304" charset="0"/>
              </a:rPr>
              <a:t>O</a:t>
            </a:r>
            <a:r>
              <a:rPr lang="en-US" b="1">
                <a:ln>
                  <a:solidFill>
                    <a:schemeClr val="tx1"/>
                  </a:solidFill>
                </a:ln>
                <a:latin typeface="Times New Roman" panose="02020603050405020304" charset="0"/>
                <a:cs typeface="Times New Roman" panose="02020603050405020304" charset="0"/>
              </a:rPr>
              <a:t>POSITION </a:t>
            </a:r>
            <a:endParaRPr lang="en-US" b="1">
              <a:ln>
                <a:solidFill>
                  <a:schemeClr val="tx1"/>
                </a:solidFill>
              </a:ln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b="1">
                <a:latin typeface="Times New Roman" panose="02020603050405020304" charset="0"/>
                <a:cs typeface="Times New Roman" panose="02020603050405020304" charset="0"/>
              </a:rPr>
              <a:t>To provide high quality  and user friendly  artificial intelligence cyber security softwares, (systems ) ,cybersecurity services  and forensic services to customers thereby  ensuring a cyber crime  free environment .</a:t>
            </a:r>
            <a:endParaRPr 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en-GB" altLang="en-US" b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UNDERLYING MAGIC</a:t>
            </a:r>
            <a:r>
              <a:rPr lang="en-GB" altLang="en-US" b="1">
                <a:solidFill>
                  <a:schemeClr val="tx1"/>
                </a:solidFill>
              </a:rPr>
              <a:t> </a:t>
            </a:r>
            <a:endParaRPr lang="en-GB" altLang="en-US" b="1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pPr algn="l">
              <a:buFont typeface="Arial" panose="020B0604020202020204" pitchFamily="34" charset="0"/>
              <a:buChar char="•"/>
            </a:pPr>
            <a:r>
              <a:rPr lang="en-GB" altLang="en-US" sz="2800" b="1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Our solution will be different since it </a:t>
            </a:r>
            <a:r>
              <a:rPr lang="en-GB" altLang="en-US" sz="28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will   prevent  obfuscation ( encoding ) , IP fragmentation ,denial of service and application and account   hijacking </a:t>
            </a:r>
            <a:r>
              <a:rPr lang="en-GB" altLang="en-US" sz="2800" b="1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as these are techniques used by hackers to evade security controls .  It will  be AI based .</a:t>
            </a:r>
            <a:endParaRPr lang="en-GB" altLang="en-US" sz="2800" b="1" dirty="0" smtClean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4" name="Content Placeholder 3" descr="1680679366781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96000" y="1917065"/>
            <a:ext cx="5376545" cy="356997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 descr="168907534775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7485" y="2038350"/>
            <a:ext cx="2219960" cy="16808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en-GB" altLang="en-US" b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BUSINESS MODEL</a:t>
            </a:r>
            <a:r>
              <a:rPr lang="en-GB" altLang="en-US">
                <a:solidFill>
                  <a:schemeClr val="tx1"/>
                </a:solidFill>
              </a:rPr>
              <a:t> </a:t>
            </a:r>
            <a:endParaRPr lang="en-GB" altLang="en-US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318895"/>
            <a:ext cx="12228195" cy="4807585"/>
          </a:xfrm>
        </p:spPr>
        <p:txBody>
          <a:bodyPr/>
          <a:p>
            <a:pPr marL="171450" indent="-171450">
              <a:buFont typeface="Arial" panose="020B0604020202020204" pitchFamily="34" charset="0"/>
              <a:buChar char="•"/>
            </a:pPr>
            <a:endParaRPr lang="en-GB" altLang="en-US" b="1" dirty="0" smtClean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04470" y="1229995"/>
            <a:ext cx="11695430" cy="39217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GB" altLang="en-US" sz="2800" b="1" dirty="0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Unit cost of cybersecurity and  forensic service  consultation = $2000 USD</a:t>
            </a:r>
            <a:endParaRPr lang="en-GB" altLang="en-US" sz="2800" b="1" dirty="0" smtClean="0">
              <a:latin typeface="Times New Roman" panose="02020603050405020304" charset="0"/>
              <a:cs typeface="Times New Roman" panose="0202060305040502030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GB" altLang="en-US" sz="2800" b="1" dirty="0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Intrusion detection and prevention system cost ranges from $5000  to $15 000 USD</a:t>
            </a:r>
            <a:endParaRPr lang="en-GB" altLang="en-US" sz="2800" b="1" dirty="0" smtClean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GB" altLang="en-US" sz="2800" b="1"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Will market and distribute our products and services using the following channels  </a:t>
            </a:r>
            <a:r>
              <a:rPr lang="en-GB" altLang="en-US" sz="2800" b="1" dirty="0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:</a:t>
            </a:r>
            <a:endParaRPr lang="en-GB" altLang="en-US" sz="2800" b="1" dirty="0" smtClean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GB" altLang="en-US" sz="2800" b="1" dirty="0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Website.</a:t>
            </a:r>
            <a:endParaRPr lang="en-GB" altLang="en-US" sz="2800" b="1" dirty="0" smtClean="0">
              <a:latin typeface="Times New Roman" panose="02020603050405020304" charset="0"/>
              <a:cs typeface="Times New Roman" panose="0202060305040502030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GB" altLang="en-US" sz="2800" b="1" dirty="0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Professional social media platforms . </a:t>
            </a:r>
            <a:endParaRPr lang="en-GB" altLang="en-US" sz="2800" b="1" dirty="0" smtClean="0">
              <a:latin typeface="Times New Roman" panose="02020603050405020304" charset="0"/>
              <a:cs typeface="Times New Roman" panose="0202060305040502030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GB" altLang="en-US" sz="2800" b="1" dirty="0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Partnerships. </a:t>
            </a:r>
            <a:endParaRPr lang="en-GB" altLang="en-US" sz="2800" b="1" dirty="0" smtClean="0">
              <a:latin typeface="Times New Roman" panose="02020603050405020304" charset="0"/>
              <a:cs typeface="Times New Roman" panose="0202060305040502030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GB" altLang="en-US" sz="2800" b="1" dirty="0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Brokers .</a:t>
            </a:r>
            <a:endParaRPr lang="en-GB" altLang="en-US" sz="2800" b="1" dirty="0" smtClean="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algn="just">
              <a:buFont typeface="Arial" panose="020B0604020202020204" pitchFamily="34" charset="0"/>
              <a:buNone/>
            </a:pPr>
            <a:endParaRPr lang="en-GB" altLang="en-US" sz="2800" b="1" dirty="0" smtClean="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 pitchFamily="34" charset="0"/>
              <a:buNone/>
            </a:pPr>
            <a:br>
              <a:rPr lang="en-US" sz="3200" b="1" dirty="0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endParaRPr lang="en-US" sz="32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en-GB" altLang="en-US" b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GO TO MARKET PLAN</a:t>
            </a:r>
            <a:r>
              <a:rPr lang="en-GB" altLang="en-US" b="1">
                <a:solidFill>
                  <a:schemeClr val="tx1"/>
                </a:solidFill>
              </a:rPr>
              <a:t> </a:t>
            </a:r>
            <a:endParaRPr lang="en-GB" altLang="en-US" b="1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165" y="1600200"/>
            <a:ext cx="11224895" cy="4204970"/>
          </a:xfrm>
        </p:spPr>
        <p:txBody>
          <a:bodyPr>
            <a:normAutofit/>
          </a:bodyPr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GB" altLang="en-US" b="1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Will start marketing our products and services in Harare and will be targeting the following institutions and organisations :</a:t>
            </a:r>
            <a:endParaRPr lang="en-GB" altLang="en-US" b="1" dirty="0" smtClean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GB" altLang="en-US" b="1" dirty="0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Learning institutions (Universities and Schools )</a:t>
            </a:r>
            <a:endParaRPr lang="en-GB" altLang="en-US" b="1" dirty="0" smtClean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GB" altLang="en-US" b="1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Health care  institutions  </a:t>
            </a:r>
            <a:endParaRPr lang="en-GB" altLang="en-US" b="1" dirty="0" smtClean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GB" altLang="en-US" b="1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Online money transfers and   payment    platforms </a:t>
            </a:r>
            <a:endParaRPr lang="en-GB" altLang="en-US" b="1" dirty="0" smtClean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GB" altLang="en-US" dirty="0" smtClean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altLang="en-US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altLang="en-US" dirty="0" smtClean="0"/>
          </a:p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en-GB" altLang="en-US" b="1">
                <a:ln>
                  <a:solidFill>
                    <a:schemeClr val="tx1"/>
                  </a:solidFill>
                </a:ln>
                <a:latin typeface="Times New Roman" panose="02020603050405020304" charset="0"/>
                <a:cs typeface="Times New Roman" panose="02020603050405020304" charset="0"/>
              </a:rPr>
              <a:t>COMPETITIVE ANALYSIS</a:t>
            </a:r>
            <a:r>
              <a:rPr lang="en-GB" altLang="en-US"/>
              <a:t> 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pPr marL="0" indent="0">
              <a:buFont typeface="Arial" panose="020B0604020202020204" pitchFamily="34" charset="0"/>
              <a:buNone/>
            </a:pPr>
            <a:endParaRPr lang="en-GB" altLang="en-US" b="1" dirty="0" smtClean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GB" altLang="en-US" b="1" dirty="0" smtClean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Content Placeholder 4" descr="Fortinet-Logo.wine_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186430" y="1417955"/>
            <a:ext cx="1208405" cy="5981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6" name="Text Box 5"/>
          <p:cNvSpPr txBox="1"/>
          <p:nvPr/>
        </p:nvSpPr>
        <p:spPr>
          <a:xfrm>
            <a:off x="827405" y="2101215"/>
            <a:ext cx="11065510" cy="32524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GB" altLang="en-US" sz="2800" b="1" dirty="0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Use of artificial intelligence to ensure the system  prevents </a:t>
            </a:r>
            <a:r>
              <a:rPr lang="en-GB" altLang="en-US" sz="2800" b="1" dirty="0">
                <a:cs typeface="+mn-lt"/>
                <a:sym typeface="+mn-ea"/>
              </a:rPr>
              <a:t> </a:t>
            </a:r>
            <a:r>
              <a:rPr lang="en-GB" altLang="en-US" sz="28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obfuscation ( encoding ) , IP fragmentation ,denial of service and application and account   hijacking </a:t>
            </a:r>
            <a:r>
              <a:rPr lang="en-GB" altLang="en-US" sz="2800" b="1" dirty="0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as these are techniques used by hackers to evade security controls.</a:t>
            </a:r>
            <a:endParaRPr lang="en-GB" altLang="en-US" sz="2800" b="1" dirty="0" smtClean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GB" altLang="en-US" sz="2800" b="1" dirty="0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Locally based to help with technical issues  and trouble shooting .</a:t>
            </a:r>
            <a:endParaRPr lang="en-GB" altLang="en-US" sz="2800" b="1" dirty="0" smtClean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GB" altLang="en-US" sz="2800" b="1" dirty="0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There would be huge discounts for healthcare institutions ,universities and schools especially those in remote areas and under developed areas</a:t>
            </a:r>
            <a:r>
              <a:rPr lang="en-GB" altLang="en-US" sz="2800" b="1" dirty="0" smtClean="0">
                <a:cs typeface="+mn-lt"/>
                <a:sym typeface="+mn-ea"/>
              </a:rPr>
              <a:t> .</a:t>
            </a:r>
            <a:endParaRPr lang="en-US" sz="2800"/>
          </a:p>
        </p:txBody>
      </p:sp>
      <p:pic>
        <p:nvPicPr>
          <p:cNvPr id="7" name="Picture 6" descr="Sophos_Logo835x39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3695" y="1423035"/>
            <a:ext cx="1144905" cy="6731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en-GB" altLang="en-US" b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MANAGEMENT TEAM</a:t>
            </a:r>
            <a:r>
              <a:rPr lang="en-GB" altLang="en-US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en-GB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Content Placeholder 3" descr="wayne "/>
          <p:cNvPicPr>
            <a:picLocks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98500" y="1205230"/>
            <a:ext cx="3790315" cy="329628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 Box 4"/>
          <p:cNvSpPr txBox="1"/>
          <p:nvPr/>
        </p:nvSpPr>
        <p:spPr>
          <a:xfrm>
            <a:off x="699135" y="4502150"/>
            <a:ext cx="3876675" cy="11385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GB" alt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Wayne Mureverwi </a:t>
            </a:r>
            <a:endParaRPr lang="en-GB" altLang="en-US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GB" alt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Digital Forensic Scientist and Software Developer </a:t>
            </a:r>
            <a:endParaRPr lang="en-GB" altLang="en-US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Content Placeholder 5" descr="tarbaby"/>
          <p:cNvPicPr>
            <a:picLocks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8797925" y="1205865"/>
            <a:ext cx="3341370" cy="32956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 Box 6"/>
          <p:cNvSpPr txBox="1"/>
          <p:nvPr/>
        </p:nvSpPr>
        <p:spPr>
          <a:xfrm>
            <a:off x="8771255" y="4502150"/>
            <a:ext cx="3293110" cy="897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GB" alt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Tarbaby Banda</a:t>
            </a:r>
            <a:endParaRPr lang="en-GB" altLang="en-US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GB" alt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Senior Software Engineer </a:t>
            </a:r>
            <a:endParaRPr lang="en-GB" altLang="en-US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8" name="Picture 7" descr="IMG_20230421_105351~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5820" y="1205230"/>
            <a:ext cx="3891915" cy="32969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 Box 8"/>
          <p:cNvSpPr txBox="1"/>
          <p:nvPr/>
        </p:nvSpPr>
        <p:spPr>
          <a:xfrm>
            <a:off x="4655820" y="4501515"/>
            <a:ext cx="4387850" cy="1139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GB" alt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Alexandra Wabatagore </a:t>
            </a:r>
            <a:endParaRPr lang="en-GB" altLang="en-US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GB" alt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CEO and Founder </a:t>
            </a:r>
            <a:endParaRPr lang="en-GB" altLang="en-US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GB" alt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Digital forensic scientist</a:t>
            </a:r>
            <a:r>
              <a:rPr lang="en-GB" altLang="en-US">
                <a:solidFill>
                  <a:schemeClr val="tx1"/>
                </a:solidFill>
              </a:rPr>
              <a:t> </a:t>
            </a:r>
            <a:endParaRPr lang="en-GB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en-GB" altLang="en-US" b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FINANCIAL PROJECTIONS</a:t>
            </a:r>
            <a:r>
              <a:rPr lang="en-GB" alt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en-GB" altLang="en-US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pPr marL="0" indent="0">
              <a:buFont typeface="Arial" panose="020B0604020202020204" pitchFamily="34" charset="0"/>
              <a:buNone/>
            </a:pPr>
            <a:br>
              <a:rPr lang="en-US" sz="2800" b="1" dirty="0" smtClean="0">
                <a:solidFill>
                  <a:schemeClr val="accent3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endParaRPr lang="en-US" sz="2800" b="1" dirty="0" smtClean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7416165" y="1166495"/>
            <a:ext cx="4165600" cy="50355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GB" altLang="en-US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11" name="Content Placeholder 10"/>
          <p:cNvGraphicFramePr/>
          <p:nvPr>
            <p:ph sz="half" idx="2"/>
          </p:nvPr>
        </p:nvGraphicFramePr>
        <p:xfrm>
          <a:off x="442595" y="1242695"/>
          <a:ext cx="5314950" cy="48837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2" name="Text Box 11"/>
          <p:cNvSpPr txBox="1"/>
          <p:nvPr/>
        </p:nvSpPr>
        <p:spPr>
          <a:xfrm>
            <a:off x="6723380" y="1242695"/>
            <a:ext cx="4999355" cy="51892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GB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GB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GB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GB" altLang="en-US" sz="2000" b="1">
                <a:latin typeface="Times New Roman" panose="02020603050405020304" charset="0"/>
                <a:cs typeface="Times New Roman" panose="02020603050405020304" charset="0"/>
              </a:rPr>
              <a:t>Targeted total revenue per month = $5000</a:t>
            </a:r>
            <a:endParaRPr lang="en-GB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GB" altLang="en-US" sz="2000" b="1">
                <a:latin typeface="Times New Roman" panose="02020603050405020304" charset="0"/>
                <a:cs typeface="Times New Roman" panose="02020603050405020304" charset="0"/>
              </a:rPr>
              <a:t>Variable cost =$2000</a:t>
            </a:r>
            <a:endParaRPr lang="en-GB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GB" altLang="en-US" sz="2000" b="1">
                <a:latin typeface="Times New Roman" panose="02020603050405020304" charset="0"/>
                <a:cs typeface="Times New Roman" panose="02020603050405020304" charset="0"/>
              </a:rPr>
              <a:t>Fixed cost =$1000 </a:t>
            </a:r>
            <a:endParaRPr lang="en-GB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GB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GB" altLang="en-US" sz="2000" b="1">
                <a:latin typeface="Times New Roman" panose="02020603050405020304" charset="0"/>
                <a:cs typeface="Times New Roman" panose="02020603050405020304" charset="0"/>
              </a:rPr>
              <a:t>BREAK EVEN POINT = [Fixed cost /(Revenue per unit -Variable cost per unit )]</a:t>
            </a:r>
            <a:endParaRPr lang="en-GB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GB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GB" altLang="en-US" sz="2000" b="1">
                <a:latin typeface="Times New Roman" panose="02020603050405020304" charset="0"/>
                <a:cs typeface="Times New Roman" panose="02020603050405020304" charset="0"/>
              </a:rPr>
              <a:t>=0.33333</a:t>
            </a:r>
            <a:endParaRPr lang="en-GB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GB" altLang="en-US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440" y="77470"/>
            <a:ext cx="11109960" cy="1654175"/>
          </a:xfrm>
        </p:spPr>
        <p:txBody>
          <a:bodyPr>
            <a:normAutofit fontScale="90000"/>
          </a:bodyPr>
          <a:p>
            <a:pPr algn="l"/>
            <a:r>
              <a:rPr lang="en-GB" altLang="en-US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CURRENT  STATUS ACCOMPLISHMENTS TO DATE TIMELINE .</a:t>
            </a:r>
            <a:endParaRPr lang="en-GB" altLang="en-US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3725" y="1490345"/>
            <a:ext cx="11472545" cy="5106670"/>
          </a:xfrm>
        </p:spPr>
        <p:txBody>
          <a:bodyPr/>
          <a:p>
            <a:endParaRPr lang="en-GB" altLang="en-US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GB" alt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System Development now 40%.</a:t>
            </a:r>
            <a:endParaRPr lang="en-GB" altLang="en-US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GB" alt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Gathered all information about licencing and requirements  for registering the  company.</a:t>
            </a:r>
            <a:endParaRPr lang="en-GB" altLang="en-US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GB" alt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Making some connections with top companies for partnerships if posible and other  brokers for future marketing .</a:t>
            </a:r>
            <a:endParaRPr lang="en-GB" altLang="en-US" b="1">
              <a:solidFill>
                <a:schemeClr val="tx1"/>
              </a:solidFill>
            </a:endParaRPr>
          </a:p>
          <a:p>
            <a:endParaRPr lang="en-GB" altLang="en-US" b="1"/>
          </a:p>
          <a:p>
            <a:endParaRPr lang="en-GB" altLang="en-US" b="1"/>
          </a:p>
          <a:p>
            <a:pPr marL="0" indent="0">
              <a:buNone/>
            </a:pPr>
            <a:endParaRPr lang="en-GB" altLang="en-US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en-GB" altLang="en-US" b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KEY METRICS</a:t>
            </a:r>
            <a:r>
              <a:rPr lang="en-GB" alt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en-GB" altLang="en-US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2955" y="1210310"/>
            <a:ext cx="10799445" cy="4805045"/>
          </a:xfrm>
        </p:spPr>
        <p:txBody>
          <a:bodyPr/>
          <a:p>
            <a:pPr marL="0" indent="0" algn="l">
              <a:buNone/>
            </a:pPr>
            <a:endParaRPr lang="en-GB" altLang="en-US" sz="2400" b="1" dirty="0" smtClean="0">
              <a:solidFill>
                <a:schemeClr val="tx1"/>
              </a:solidFill>
              <a:sym typeface="+mn-ea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altLang="en-US" b="1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Net profit from sales and offering of services   in 3 months ,   6  months , and 12 months </a:t>
            </a:r>
            <a:endParaRPr lang="en-GB" altLang="en-US" b="1" dirty="0" smtClean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GB" altLang="en-US" b="1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Customer Lifetime  Value  in 3 months , 6 months and 12 months </a:t>
            </a:r>
            <a:endParaRPr lang="en-GB" altLang="en-US" b="1" dirty="0" smtClean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GB" altLang="en-US" b="1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Customer Satisfaction score  in 3 months , 6 months  and 12 months</a:t>
            </a:r>
            <a:endParaRPr lang="en-GB" altLang="en-US" b="1" dirty="0" smtClean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="1" dirty="0" smtClean="0">
              <a:solidFill>
                <a:schemeClr val="tx1"/>
              </a:solidFill>
            </a:endParaRPr>
          </a:p>
          <a:p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en-GB" altLang="en-US" b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WHAT WE ARE ASKING FOR ?</a:t>
            </a:r>
            <a:endParaRPr lang="en-GB" altLang="en-US" b="1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0215" y="1337945"/>
            <a:ext cx="11630660" cy="4788535"/>
          </a:xfrm>
        </p:spPr>
        <p:txBody>
          <a:bodyPr/>
          <a:p>
            <a:pPr algn="just"/>
            <a:r>
              <a:rPr lang="en-GB" alt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$ 30 000 Canadian dollars to cover the following costs :</a:t>
            </a:r>
            <a:endParaRPr lang="en-GB" altLang="en-US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GB" alt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Registering of company and operating licence payments .</a:t>
            </a:r>
            <a:endParaRPr lang="en-GB" altLang="en-US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GB" alt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Official  Website development .</a:t>
            </a:r>
            <a:endParaRPr lang="en-GB" altLang="en-US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GB" alt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Tools for artificial intelligence development .</a:t>
            </a:r>
            <a:endParaRPr lang="en-GB" altLang="en-US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GB" alt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Hardware such as high processing speed computers and servers .</a:t>
            </a:r>
            <a:endParaRPr lang="en-GB" altLang="en-US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GB" alt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Purchase of digital forensics and cyber security tools .</a:t>
            </a:r>
            <a:endParaRPr lang="en-GB" altLang="en-US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6" name="Subtitle 5"/>
          <p:cNvSpPr>
            <a:spLocks noGrp="1"/>
          </p:cNvSpPr>
          <p:nvPr>
            <p:ph type="subTitle" idx="4294967295"/>
          </p:nvPr>
        </p:nvSpPr>
        <p:spPr>
          <a:xfrm>
            <a:off x="0" y="2752725"/>
            <a:ext cx="9340850" cy="2505075"/>
          </a:xfrm>
        </p:spPr>
        <p:txBody>
          <a:bodyPr/>
          <a:p>
            <a:pPr marL="0" indent="0">
              <a:buNone/>
            </a:pPr>
            <a:r>
              <a:rPr lang="en-GB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   </a:t>
            </a:r>
            <a:r>
              <a:rPr lang="en-GB" altLang="en-US" sz="5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   </a:t>
            </a:r>
            <a:r>
              <a:rPr lang="en-GB" altLang="en-US" sz="54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Thank you. </a:t>
            </a:r>
            <a:endParaRPr lang="en-US" sz="5400"/>
          </a:p>
        </p:txBody>
      </p:sp>
      <p:sp>
        <p:nvSpPr>
          <p:cNvPr id="7" name="Text Box 6"/>
          <p:cNvSpPr txBox="1"/>
          <p:nvPr/>
        </p:nvSpPr>
        <p:spPr>
          <a:xfrm>
            <a:off x="1489710" y="3724275"/>
            <a:ext cx="9384665" cy="17094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  <p:pic>
        <p:nvPicPr>
          <p:cNvPr id="8" name="image2.png"/>
          <p:cNvPicPr preferRelativeResize="0"/>
          <p:nvPr/>
        </p:nvPicPr>
        <p:blipFill>
          <a:blip r:embed="rId2"/>
          <a:srcRect/>
          <a:stretch>
            <a:fillRect/>
          </a:stretch>
        </p:blipFill>
        <p:spPr>
          <a:xfrm>
            <a:off x="2250123" y="4454525"/>
            <a:ext cx="885825" cy="8191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image3.png"/>
          <p:cNvPicPr preferRelativeResize="0"/>
          <p:nvPr/>
        </p:nvPicPr>
        <p:blipFill>
          <a:blip r:embed="rId3"/>
          <a:srcRect/>
          <a:stretch>
            <a:fillRect/>
          </a:stretch>
        </p:blipFill>
        <p:spPr>
          <a:xfrm>
            <a:off x="3715068" y="4454525"/>
            <a:ext cx="1285875" cy="762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image1.png"/>
          <p:cNvPicPr preferRelativeResize="0"/>
          <p:nvPr/>
        </p:nvPicPr>
        <p:blipFill>
          <a:blip r:embed="rId4"/>
          <a:srcRect/>
          <a:stretch>
            <a:fillRect/>
          </a:stretch>
        </p:blipFill>
        <p:spPr>
          <a:xfrm>
            <a:off x="5817235" y="4454208"/>
            <a:ext cx="838200" cy="6381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 descr="atw Technologies and Forensics (1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0580" y="4454525"/>
            <a:ext cx="1082675" cy="8966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3367</Words>
  <Application>WPS Presentation</Application>
  <PresentationFormat>Widescreen</PresentationFormat>
  <Paragraphs>119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Arial</vt:lpstr>
      <vt:lpstr>SimSun</vt:lpstr>
      <vt:lpstr>Wingdings</vt:lpstr>
      <vt:lpstr>Times New Roman</vt:lpstr>
      <vt:lpstr>Microsoft YaHei</vt:lpstr>
      <vt:lpstr>Arial Unicode MS</vt:lpstr>
      <vt:lpstr>Calibri</vt:lpstr>
      <vt:lpstr>Default Design</vt:lpstr>
      <vt:lpstr>PowerPoint 演示文稿</vt:lpstr>
      <vt:lpstr>PROBLEM :THE RISE OF CYBER FRAUD  IN HARARE , ZIMBABWE   AS  96% OF FINANCIAL  TRANSACTIONS         ARE  CONDUCTED  ONLINE</vt:lpstr>
      <vt:lpstr>SOLUTION  .</vt:lpstr>
      <vt:lpstr>VALUE PROPOSITION </vt:lpstr>
      <vt:lpstr>UNDERLYING MAGIC </vt:lpstr>
      <vt:lpstr>BUSINESS MODEL </vt:lpstr>
      <vt:lpstr>GO TO MARKET PLAN </vt:lpstr>
      <vt:lpstr>COMPETITIVE ANALYSIS </vt:lpstr>
      <vt:lpstr>MANAGEMENT TEAM </vt:lpstr>
      <vt:lpstr>FINANCIAL PROJECTIONS </vt:lpstr>
      <vt:lpstr>CURRENT STATUS ACCOMPLISHMENTS TO DATE TIMELINE  .</vt:lpstr>
      <vt:lpstr>KEY METRICS </vt:lpstr>
      <vt:lpstr>WHAT WE ARE ASKING FOR ?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ATW Technologies and Forensics .</dc:title>
  <dc:creator/>
  <cp:lastModifiedBy>pc</cp:lastModifiedBy>
  <cp:revision>70</cp:revision>
  <dcterms:created xsi:type="dcterms:W3CDTF">2024-04-04T07:04:00Z</dcterms:created>
  <dcterms:modified xsi:type="dcterms:W3CDTF">2024-04-30T15:33:45Z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D30D383E6E6640EE80EF76C99CE0838F_12</vt:lpwstr>
  </property>
  <property fmtid="{D5CDD505-2E9C-101B-9397-08002B2CF9AE}" pid="3" name="KSOProductBuildVer">
    <vt:lpwstr>1033-12.2.0.13306</vt:lpwstr>
  </property>
</Properties>
</file>